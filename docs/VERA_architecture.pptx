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752" y="39188"/>
            <a:ext cx="14430894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</a:rPr>
              <a:t>VERA: Vision · Embodied Knowledge · Reasoning ·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41111" y="391885"/>
            <a:ext cx="10759994" cy="74066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25400">
            <a:solidFill>
              <a:srgbClr val="455A6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07118" y="423236"/>
            <a:ext cx="1197032" cy="29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VERA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752" y="920931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Vision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3 RGB Frames · 224×224×3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752" y="2135777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Instruction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"push block left"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752" y="3350622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Action Narration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a_{t−1} text narration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752" y="4565468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880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Embodied Knowledge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r_{t−1} · Δd_{t−1}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752" y="5780314"/>
            <a:ext cx="1808849" cy="822960"/>
          </a:xfrm>
          <a:prstGeom prst="roundRect">
            <a:avLst>
              <a:gd name="adj" fmla="val 4000"/>
            </a:avLst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History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H=4 (action, reward) pairs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3089" y="4620332"/>
            <a:ext cx="399010" cy="20378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2829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0949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33198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7226" y="501613"/>
            <a:ext cx="319208" cy="376210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 w="2286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7316" y="815122"/>
            <a:ext cx="1250234" cy="1034578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 w="3556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CLIP ViT-B/32</a:t>
            </a:r>
          </a:p>
          <a:p>
            <a:pPr algn="ctr"/>
            <a:r>
              <a:rPr sz="850" b="1">
                <a:solidFill>
                  <a:srgbClr val="FFFFFF"/>
                </a:solidFill>
              </a:rPr>
              <a:t>✓ fine-tuned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lr=3e-6 · 197 patches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7316" y="2210235"/>
            <a:ext cx="1250234" cy="674043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 w="25400">
            <a:solidFill>
              <a:srgbClr val="4DD0E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CLIP Text Encoder</a:t>
            </a:r>
          </a:p>
          <a:p>
            <a:pPr algn="ctr"/>
            <a:r>
              <a:rPr sz="800" b="1">
                <a:solidFill>
                  <a:srgbClr val="FFFFFF"/>
                </a:solidFill>
              </a:rPr>
              <a:t>❄ FROZEN  ·  1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27316" y="3425081"/>
            <a:ext cx="1250234" cy="674043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 w="25400">
            <a:solidFill>
              <a:srgbClr val="4DD0E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CLIP Text Encoder</a:t>
            </a:r>
          </a:p>
          <a:p>
            <a:pPr algn="ctr"/>
            <a:r>
              <a:rPr sz="800" b="1">
                <a:solidFill>
                  <a:srgbClr val="FFFFFF"/>
                </a:solidFill>
              </a:rPr>
              <a:t>❄ FROZEN  ·  1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7316" y="4639926"/>
            <a:ext cx="1250234" cy="674043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 w="25400">
            <a:solidFill>
              <a:srgbClr val="4DD0E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CLIP Text Encoder</a:t>
            </a:r>
          </a:p>
          <a:p>
            <a:pPr algn="ctr"/>
            <a:r>
              <a:rPr sz="800" b="1">
                <a:solidFill>
                  <a:srgbClr val="FFFFFF"/>
                </a:solidFill>
              </a:rPr>
              <a:t>❄ FROZEN  ·  1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7316" y="5752882"/>
            <a:ext cx="598516" cy="877824"/>
          </a:xfrm>
          <a:prstGeom prst="roundRect">
            <a:avLst>
              <a:gd name="adj" fmla="val 4000"/>
            </a:avLst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History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Encoder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79034" y="5752882"/>
            <a:ext cx="598516" cy="877824"/>
          </a:xfrm>
          <a:prstGeom prst="roundRect">
            <a:avLst>
              <a:gd name="adj" fmla="val 4000"/>
            </a:avLst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FFFFFF"/>
                </a:solidFill>
              </a:rPr>
              <a:t>2L Causal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LLaMA Sub-TF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57352" y="1018902"/>
            <a:ext cx="106402" cy="5486400"/>
          </a:xfrm>
          <a:prstGeom prst="roundRect">
            <a:avLst>
              <a:gd name="adj" fmla="val 4000"/>
            </a:avLst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64744" y="862148"/>
            <a:ext cx="1064029" cy="313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212121"/>
                </a:solidFill>
              </a:rPr>
              <a:t>RMSNorm + Linear
d=256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8599" y="564315"/>
            <a:ext cx="4116462" cy="7061780"/>
          </a:xfrm>
          <a:prstGeom prst="roundRect">
            <a:avLst>
              <a:gd name="adj" fmla="val 4000"/>
            </a:avLst>
          </a:prstGeom>
          <a:solidFill>
            <a:srgbClr val="0D47A1"/>
          </a:solidFill>
          <a:ln w="25400">
            <a:solidFill>
              <a:srgbClr val="79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55101" y="642692"/>
            <a:ext cx="3983458" cy="642692"/>
          </a:xfrm>
          <a:prstGeom prst="roundRect">
            <a:avLst>
              <a:gd name="adj" fmla="val 4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50" b="1">
                <a:solidFill>
                  <a:srgbClr val="FFFFFF"/>
                </a:solidFill>
              </a:rPr>
              <a:t>LLaMA Fusion Transformer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6 Layers · 8 Heads · d=256 · d_ff=1024 · RMSNorm·RoPE·SwiGLU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55101" y="1379437"/>
            <a:ext cx="3983458" cy="360534"/>
          </a:xfrm>
          <a:prstGeom prst="roundRect">
            <a:avLst>
              <a:gd name="adj" fmla="val 4000"/>
            </a:avLst>
          </a:prstGeom>
          <a:solidFill>
            <a:srgbClr val="0D47A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9A825"/>
                </a:solidFill>
              </a:rPr>
              <a:t>◈  BIDIRECTIONAL — Full Cross-Stream Attention — No Causal Mask  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54478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20605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86731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2858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718984" y="7093131"/>
            <a:ext cx="639525" cy="391885"/>
          </a:xfrm>
          <a:prstGeom prst="roundRect">
            <a:avLst>
              <a:gd name="adj" fmla="val 4000"/>
            </a:avLst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E3F2FD"/>
                </a:solidFill>
              </a:rPr>
              <a:t>L6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51365" y="642692"/>
            <a:ext cx="1330036" cy="2683476"/>
          </a:xfrm>
          <a:prstGeom prst="roundRect">
            <a:avLst>
              <a:gd name="adj" fmla="val 4000"/>
            </a:avLst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</a:rPr>
              <a:t>Discrete</a:t>
            </a:r>
          </a:p>
          <a:p>
            <a:pPr algn="ctr"/>
            <a:r>
              <a:rPr sz="950" b="1">
                <a:solidFill>
                  <a:srgbClr val="FFFFFF"/>
                </a:solidFill>
              </a:rPr>
              <a:t>Action Head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8-bin logits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×K=4 chunks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551365" y="4864242"/>
            <a:ext cx="1330036" cy="2683476"/>
          </a:xfrm>
          <a:prstGeom prst="roundRect">
            <a:avLst>
              <a:gd name="adj" fmla="val 4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</a:rPr>
              <a:t>Regression</a:t>
            </a:r>
          </a:p>
          <a:p>
            <a:pPr algn="ctr"/>
            <a:r>
              <a:rPr sz="950" b="1">
                <a:solidFill>
                  <a:srgbClr val="FFFFFF"/>
                </a:solidFill>
              </a:rPr>
              <a:t>Head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[Δx, Δy]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908602" y="1332411"/>
            <a:ext cx="332509" cy="0"/>
          </a:xfrm>
          <a:prstGeom prst="line">
            <a:avLst/>
          </a:prstGeom>
          <a:ln w="25400">
            <a:solidFill>
              <a:srgbClr val="1565C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677550" y="1332411"/>
            <a:ext cx="133004" cy="0"/>
          </a:xfrm>
          <a:prstGeom prst="line">
            <a:avLst/>
          </a:prstGeom>
          <a:ln w="22860">
            <a:solidFill>
              <a:srgbClr val="1565C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08602" y="2547257"/>
            <a:ext cx="332509" cy="0"/>
          </a:xfrm>
          <a:prstGeom prst="line">
            <a:avLst/>
          </a:prstGeom>
          <a:ln w="2540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677550" y="2547257"/>
            <a:ext cx="133004" cy="0"/>
          </a:xfrm>
          <a:prstGeom prst="line">
            <a:avLst/>
          </a:prstGeom>
          <a:ln w="22860">
            <a:solidFill>
              <a:srgbClr val="2E7D32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08602" y="3762102"/>
            <a:ext cx="332509" cy="0"/>
          </a:xfrm>
          <a:prstGeom prst="line">
            <a:avLst/>
          </a:prstGeom>
          <a:ln w="25400">
            <a:solidFill>
              <a:srgbClr val="E6510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77550" y="3762102"/>
            <a:ext cx="133004" cy="0"/>
          </a:xfrm>
          <a:prstGeom prst="line">
            <a:avLst/>
          </a:prstGeom>
          <a:ln w="22860">
            <a:solidFill>
              <a:srgbClr val="E6510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908602" y="4976948"/>
            <a:ext cx="332509" cy="0"/>
          </a:xfrm>
          <a:prstGeom prst="line">
            <a:avLst/>
          </a:prstGeom>
          <a:ln w="25400">
            <a:solidFill>
              <a:srgbClr val="880E4F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77550" y="4976948"/>
            <a:ext cx="133004" cy="0"/>
          </a:xfrm>
          <a:prstGeom prst="line">
            <a:avLst/>
          </a:prstGeom>
          <a:ln w="22860">
            <a:solidFill>
              <a:srgbClr val="880E4F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908602" y="6191794"/>
            <a:ext cx="332509" cy="0"/>
          </a:xfrm>
          <a:prstGeom prst="line">
            <a:avLst/>
          </a:prstGeom>
          <a:ln w="25400">
            <a:solidFill>
              <a:srgbClr val="4527A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677550" y="6191794"/>
            <a:ext cx="133004" cy="0"/>
          </a:xfrm>
          <a:prstGeom prst="line">
            <a:avLst/>
          </a:prstGeom>
          <a:ln w="22860">
            <a:solidFill>
              <a:srgbClr val="4527A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863755" y="3762102"/>
            <a:ext cx="266007" cy="0"/>
          </a:xfrm>
          <a:prstGeom prst="line">
            <a:avLst/>
          </a:prstGeom>
          <a:ln w="27940">
            <a:solidFill>
              <a:srgbClr val="78909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55842" y="3762102"/>
            <a:ext cx="232757" cy="0"/>
          </a:xfrm>
          <a:prstGeom prst="line">
            <a:avLst/>
          </a:prstGeom>
          <a:ln w="35560">
            <a:solidFill>
              <a:srgbClr val="F9A825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405061" y="4095205"/>
            <a:ext cx="146304" cy="0"/>
          </a:xfrm>
          <a:prstGeom prst="line">
            <a:avLst/>
          </a:prstGeom>
          <a:ln w="31750">
            <a:solidFill>
              <a:srgbClr val="F9A825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881402" y="1984430"/>
            <a:ext cx="266007" cy="0"/>
          </a:xfrm>
          <a:prstGeom prst="line">
            <a:avLst/>
          </a:prstGeom>
          <a:ln w="25400">
            <a:solidFill>
              <a:srgbClr val="FFCCB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881402" y="6205980"/>
            <a:ext cx="266007" cy="0"/>
          </a:xfrm>
          <a:prstGeom prst="line">
            <a:avLst/>
          </a:prstGeom>
          <a:ln w="25400">
            <a:solidFill>
              <a:srgbClr val="C8E6C9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3147409" y="642692"/>
            <a:ext cx="1363287" cy="2683476"/>
          </a:xfrm>
          <a:prstGeom prst="roundRect">
            <a:avLst>
              <a:gd name="adj" fmla="val 4000"/>
            </a:avLst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Discrete Action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8-bin × K=4</a:t>
            </a:r>
          </a:p>
          <a:p>
            <a:pPr algn="ctr"/>
            <a:r>
              <a:rPr sz="750" b="0">
                <a:solidFill>
                  <a:srgbClr val="FFFFFF"/>
                </a:solidFill>
              </a:rPr>
              <a:t>(π₀ style)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147409" y="4864242"/>
            <a:ext cx="1363287" cy="2683476"/>
          </a:xfrm>
          <a:prstGeom prst="roundRect">
            <a:avLst>
              <a:gd name="adj" fmla="val 400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Continuous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[Δx, Δy]</a:t>
            </a:r>
          </a:p>
          <a:p>
            <a:pPr algn="ctr"/>
            <a:r>
              <a:rPr sz="800" b="0">
                <a:solidFill>
                  <a:srgbClr val="FFFFFF"/>
                </a:solidFill>
              </a:rPr>
              <a:t>action_dim=2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52" y="7939604"/>
            <a:ext cx="14430894" cy="250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46E7A"/>
                </a:solidFill>
              </a:rPr>
              <a:t>5-stream closed-loop robot policy  ·  6-layer Bidirectional LLaMA Fusion Transformer  ·  K=4 action chunking  ·  λ_align=0.10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