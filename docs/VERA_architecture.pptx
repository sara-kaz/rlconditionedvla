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752" y="39188"/>
            <a:ext cx="14430894" cy="391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12121"/>
                </a:solidFill>
              </a:rPr>
              <a:t>VERA: Vision · Embodied Knowledge · Reasoning · Action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41111" y="391885"/>
            <a:ext cx="10759994" cy="7406640"/>
          </a:xfrm>
          <a:prstGeom prst="roundRect">
            <a:avLst>
              <a:gd name="adj" fmla="val 4000"/>
            </a:avLst>
          </a:prstGeom>
          <a:solidFill>
            <a:srgbClr val="FAFAFA"/>
          </a:solidFill>
          <a:ln w="25400">
            <a:solidFill>
              <a:srgbClr val="455A6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07118" y="423236"/>
            <a:ext cx="1197032" cy="297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VERA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9752" y="920931"/>
            <a:ext cx="1808849" cy="822960"/>
          </a:xfrm>
          <a:prstGeom prst="roundRect">
            <a:avLst>
              <a:gd name="adj" fmla="val 4000"/>
            </a:avLst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1">
                <a:solidFill>
                  <a:srgbClr val="FFFFFF"/>
                </a:solidFill>
              </a:rPr>
              <a:t>Vision</a:t>
            </a:r>
          </a:p>
          <a:p>
            <a:pPr algn="ctr"/>
            <a:r>
              <a:rPr sz="750" b="0">
                <a:solidFill>
                  <a:srgbClr val="FFFFFF"/>
                </a:solidFill>
              </a:rPr>
              <a:t>frames t, t−1, t−2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752" y="2135777"/>
            <a:ext cx="1808849" cy="822960"/>
          </a:xfrm>
          <a:prstGeom prst="roundRect">
            <a:avLst>
              <a:gd name="adj" fmla="val 4000"/>
            </a:avLst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1">
                <a:solidFill>
                  <a:srgbClr val="FFFFFF"/>
                </a:solidFill>
              </a:rPr>
              <a:t>Instruction</a:t>
            </a:r>
          </a:p>
          <a:p>
            <a:pPr algn="ctr"/>
            <a:r>
              <a:rPr sz="750" b="0">
                <a:solidFill>
                  <a:srgbClr val="FFFFFF"/>
                </a:solidFill>
              </a:rPr>
              <a:t>"push block to red region"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752" y="3350622"/>
            <a:ext cx="1808849" cy="822960"/>
          </a:xfrm>
          <a:prstGeom prst="roundRect">
            <a:avLst>
              <a:gd name="adj" fmla="val 4000"/>
            </a:avLst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1">
                <a:solidFill>
                  <a:srgbClr val="FFFFFF"/>
                </a:solidFill>
              </a:rPr>
              <a:t>Action Narration</a:t>
            </a:r>
          </a:p>
          <a:p>
            <a:pPr algn="ctr"/>
            <a:r>
              <a:rPr sz="750" b="0">
                <a:solidFill>
                  <a:srgbClr val="FFFFFF"/>
                </a:solidFill>
              </a:rPr>
              <a:t>"I pushed the block left"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752" y="4565468"/>
            <a:ext cx="1808849" cy="822960"/>
          </a:xfrm>
          <a:prstGeom prst="roundRect">
            <a:avLst>
              <a:gd name="adj" fmla="val 4000"/>
            </a:avLst>
          </a:prstGeom>
          <a:solidFill>
            <a:srgbClr val="880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1">
                <a:solidFill>
                  <a:srgbClr val="FFFFFF"/>
                </a:solidFill>
              </a:rPr>
              <a:t>Embodied Knowledge</a:t>
            </a:r>
          </a:p>
          <a:p>
            <a:pPr algn="ctr"/>
            <a:r>
              <a:rPr sz="750" b="0">
                <a:solidFill>
                  <a:srgbClr val="FFFFFF"/>
                </a:solidFill>
              </a:rPr>
              <a:t>"block moved closer to goal"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752" y="5780314"/>
            <a:ext cx="1808849" cy="822960"/>
          </a:xfrm>
          <a:prstGeom prst="roundRect">
            <a:avLst>
              <a:gd name="adj" fmla="val 4000"/>
            </a:avLst>
          </a:prstGeom>
          <a:solidFill>
            <a:srgbClr val="4527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1">
                <a:solidFill>
                  <a:srgbClr val="FFFFFF"/>
                </a:solidFill>
              </a:rPr>
              <a:t>History</a:t>
            </a:r>
          </a:p>
          <a:p>
            <a:pPr algn="ctr"/>
            <a:r>
              <a:rPr sz="750" b="0">
                <a:solidFill>
                  <a:srgbClr val="FFFFFF"/>
                </a:solidFill>
              </a:rPr>
              <a:t>(←,0.12)  (←,0.09)  (↑,0.04)  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43089" y="4620332"/>
            <a:ext cx="399010" cy="203780"/>
          </a:xfrm>
          <a:prstGeom prst="roundRect">
            <a:avLst>
              <a:gd name="adj" fmla="val 4000"/>
            </a:avLst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00" b="1">
                <a:solidFill>
                  <a:srgbClr val="FFFFFF"/>
                </a:solidFill>
              </a:rPr>
              <a:t>NEW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92829" y="501613"/>
            <a:ext cx="319208" cy="376210"/>
          </a:xfrm>
          <a:prstGeom prst="roundRect">
            <a:avLst>
              <a:gd name="adj" fmla="val 4000"/>
            </a:avLst>
          </a:prstGeom>
          <a:solidFill>
            <a:srgbClr val="1A237E"/>
          </a:solidFill>
          <a:ln w="22860">
            <a:solidFill>
              <a:srgbClr val="90C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0949" y="501613"/>
            <a:ext cx="319208" cy="376210"/>
          </a:xfrm>
          <a:prstGeom prst="roundRect">
            <a:avLst>
              <a:gd name="adj" fmla="val 4000"/>
            </a:avLst>
          </a:prstGeom>
          <a:solidFill>
            <a:srgbClr val="1A237E"/>
          </a:solidFill>
          <a:ln w="22860">
            <a:solidFill>
              <a:srgbClr val="90C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33198" y="501613"/>
            <a:ext cx="319208" cy="376210"/>
          </a:xfrm>
          <a:prstGeom prst="roundRect">
            <a:avLst>
              <a:gd name="adj" fmla="val 4000"/>
            </a:avLst>
          </a:prstGeom>
          <a:solidFill>
            <a:srgbClr val="1A237E"/>
          </a:solidFill>
          <a:ln w="22860">
            <a:solidFill>
              <a:srgbClr val="90C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87226" y="501613"/>
            <a:ext cx="319208" cy="376210"/>
          </a:xfrm>
          <a:prstGeom prst="roundRect">
            <a:avLst>
              <a:gd name="adj" fmla="val 4000"/>
            </a:avLst>
          </a:prstGeom>
          <a:solidFill>
            <a:srgbClr val="1A237E"/>
          </a:solidFill>
          <a:ln w="22860">
            <a:solidFill>
              <a:srgbClr val="90C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27316" y="815122"/>
            <a:ext cx="1250234" cy="1034578"/>
          </a:xfrm>
          <a:prstGeom prst="roundRect">
            <a:avLst>
              <a:gd name="adj" fmla="val 4000"/>
            </a:avLst>
          </a:prstGeom>
          <a:solidFill>
            <a:srgbClr val="1565C0"/>
          </a:solidFill>
          <a:ln w="3556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1">
                <a:solidFill>
                  <a:srgbClr val="FFFFFF"/>
                </a:solidFill>
              </a:rPr>
              <a:t>CLIP ViT-B/32</a:t>
            </a:r>
          </a:p>
          <a:p>
            <a:pPr algn="ctr"/>
            <a:r>
              <a:rPr sz="850" b="1">
                <a:solidFill>
                  <a:srgbClr val="FFFFFF"/>
                </a:solidFill>
              </a:rPr>
              <a:t>✓ fine-tuned</a:t>
            </a:r>
          </a:p>
          <a:p>
            <a:pPr algn="ctr"/>
            <a:r>
              <a:rPr sz="750" b="0">
                <a:solidFill>
                  <a:srgbClr val="FFFFFF"/>
                </a:solidFill>
              </a:rPr>
              <a:t>lr=3e-6 · 197 patches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27316" y="2210235"/>
            <a:ext cx="1250234" cy="674043"/>
          </a:xfrm>
          <a:prstGeom prst="roundRect">
            <a:avLst>
              <a:gd name="adj" fmla="val 4000"/>
            </a:avLst>
          </a:prstGeom>
          <a:solidFill>
            <a:srgbClr val="37474F"/>
          </a:solidFill>
          <a:ln w="25400">
            <a:solidFill>
              <a:srgbClr val="4DD0E1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50" b="1">
                <a:solidFill>
                  <a:srgbClr val="FFFFFF"/>
                </a:solidFill>
              </a:rPr>
              <a:t>CLIP Text Encoder</a:t>
            </a:r>
          </a:p>
          <a:p>
            <a:pPr algn="ctr"/>
            <a:r>
              <a:rPr sz="800" b="1">
                <a:solidFill>
                  <a:srgbClr val="FFFFFF"/>
                </a:solidFill>
              </a:rPr>
              <a:t>❄ FROZEN  ·  1 token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27316" y="3425081"/>
            <a:ext cx="1250234" cy="674043"/>
          </a:xfrm>
          <a:prstGeom prst="roundRect">
            <a:avLst>
              <a:gd name="adj" fmla="val 4000"/>
            </a:avLst>
          </a:prstGeom>
          <a:solidFill>
            <a:srgbClr val="37474F"/>
          </a:solidFill>
          <a:ln w="25400">
            <a:solidFill>
              <a:srgbClr val="4DD0E1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50" b="1">
                <a:solidFill>
                  <a:srgbClr val="FFFFFF"/>
                </a:solidFill>
              </a:rPr>
              <a:t>CLIP Text Encoder</a:t>
            </a:r>
          </a:p>
          <a:p>
            <a:pPr algn="ctr"/>
            <a:r>
              <a:rPr sz="800" b="1">
                <a:solidFill>
                  <a:srgbClr val="FFFFFF"/>
                </a:solidFill>
              </a:rPr>
              <a:t>❄ FROZEN  ·  1 token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427316" y="4639926"/>
            <a:ext cx="1250234" cy="674043"/>
          </a:xfrm>
          <a:prstGeom prst="roundRect">
            <a:avLst>
              <a:gd name="adj" fmla="val 4000"/>
            </a:avLst>
          </a:prstGeom>
          <a:solidFill>
            <a:srgbClr val="37474F"/>
          </a:solidFill>
          <a:ln w="25400">
            <a:solidFill>
              <a:srgbClr val="4DD0E1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50" b="1">
                <a:solidFill>
                  <a:srgbClr val="FFFFFF"/>
                </a:solidFill>
              </a:rPr>
              <a:t>CLIP Text Encoder</a:t>
            </a:r>
          </a:p>
          <a:p>
            <a:pPr algn="ctr"/>
            <a:r>
              <a:rPr sz="800" b="1">
                <a:solidFill>
                  <a:srgbClr val="FFFFFF"/>
                </a:solidFill>
              </a:rPr>
              <a:t>❄ FROZEN  ·  1 token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427316" y="5752882"/>
            <a:ext cx="598516" cy="877824"/>
          </a:xfrm>
          <a:prstGeom prst="roundRect">
            <a:avLst>
              <a:gd name="adj" fmla="val 4000"/>
            </a:avLst>
          </a:prstGeom>
          <a:solidFill>
            <a:srgbClr val="4527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50" b="1">
                <a:solidFill>
                  <a:srgbClr val="FFFFFF"/>
                </a:solidFill>
              </a:rPr>
              <a:t>History</a:t>
            </a:r>
          </a:p>
          <a:p>
            <a:pPr algn="ctr"/>
            <a:r>
              <a:rPr sz="800" b="0">
                <a:solidFill>
                  <a:srgbClr val="FFFFFF"/>
                </a:solidFill>
              </a:rPr>
              <a:t>Encoder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079034" y="5752882"/>
            <a:ext cx="598516" cy="877824"/>
          </a:xfrm>
          <a:prstGeom prst="roundRect">
            <a:avLst>
              <a:gd name="adj" fmla="val 4000"/>
            </a:avLst>
          </a:prstGeom>
          <a:solidFill>
            <a:srgbClr val="4527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50" b="1">
                <a:solidFill>
                  <a:srgbClr val="FFFFFF"/>
                </a:solidFill>
              </a:rPr>
              <a:t>2L Causal</a:t>
            </a:r>
          </a:p>
          <a:p>
            <a:pPr algn="ctr"/>
            <a:r>
              <a:rPr sz="800" b="0">
                <a:solidFill>
                  <a:srgbClr val="FFFFFF"/>
                </a:solidFill>
              </a:rPr>
              <a:t>LLaMA Sub-TF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57352" y="1018902"/>
            <a:ext cx="106402" cy="5486400"/>
          </a:xfrm>
          <a:prstGeom prst="roundRect">
            <a:avLst>
              <a:gd name="adj" fmla="val 4000"/>
            </a:avLst>
          </a:prstGeom>
          <a:solidFill>
            <a:srgbClr val="54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64744" y="862148"/>
            <a:ext cx="1064029" cy="3135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212121"/>
                </a:solidFill>
              </a:rPr>
              <a:t>RMSNorm + Linear
d=256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88599" y="564315"/>
            <a:ext cx="4116462" cy="7061780"/>
          </a:xfrm>
          <a:prstGeom prst="roundRect">
            <a:avLst>
              <a:gd name="adj" fmla="val 4000"/>
            </a:avLst>
          </a:prstGeom>
          <a:solidFill>
            <a:srgbClr val="0D47A1"/>
          </a:solidFill>
          <a:ln w="25400">
            <a:solidFill>
              <a:srgbClr val="7986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355101" y="642692"/>
            <a:ext cx="3983458" cy="642692"/>
          </a:xfrm>
          <a:prstGeom prst="roundRect">
            <a:avLst>
              <a:gd name="adj" fmla="val 4000"/>
            </a:avLst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50" b="1">
                <a:solidFill>
                  <a:srgbClr val="FFFFFF"/>
                </a:solidFill>
              </a:rPr>
              <a:t>LLaMA Fusion Transformer</a:t>
            </a:r>
          </a:p>
          <a:p>
            <a:pPr algn="ctr"/>
            <a:r>
              <a:rPr sz="750" b="0">
                <a:solidFill>
                  <a:srgbClr val="FFFFFF"/>
                </a:solidFill>
              </a:rPr>
              <a:t>6 Layers · 8 Heads · d=256 · d_ff=1024 · RMSNorm·RoPE·SwiGLU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55101" y="1379437"/>
            <a:ext cx="3983458" cy="360534"/>
          </a:xfrm>
          <a:prstGeom prst="roundRect">
            <a:avLst>
              <a:gd name="adj" fmla="val 4000"/>
            </a:avLst>
          </a:prstGeom>
          <a:solidFill>
            <a:srgbClr val="0D47A1"/>
          </a:solidFill>
          <a:ln w="2540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1">
                <a:solidFill>
                  <a:srgbClr val="F9A825"/>
                </a:solidFill>
              </a:rPr>
              <a:t>◈  BIDIRECTIONAL — Full Cross-Stream Attention — No Causal Mask  ◈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88352" y="7093131"/>
            <a:ext cx="639525" cy="391885"/>
          </a:xfrm>
          <a:prstGeom prst="roundRect">
            <a:avLst>
              <a:gd name="adj" fmla="val 4000"/>
            </a:avLst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E3F2FD"/>
                </a:solidFill>
              </a:rPr>
              <a:t>L1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54478" y="7093131"/>
            <a:ext cx="639525" cy="391885"/>
          </a:xfrm>
          <a:prstGeom prst="roundRect">
            <a:avLst>
              <a:gd name="adj" fmla="val 4000"/>
            </a:avLst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E3F2FD"/>
                </a:solidFill>
              </a:rPr>
              <a:t>L2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720605" y="7093131"/>
            <a:ext cx="639525" cy="391885"/>
          </a:xfrm>
          <a:prstGeom prst="roundRect">
            <a:avLst>
              <a:gd name="adj" fmla="val 4000"/>
            </a:avLst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E3F2FD"/>
                </a:solidFill>
              </a:rPr>
              <a:t>L3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386731" y="7093131"/>
            <a:ext cx="639525" cy="391885"/>
          </a:xfrm>
          <a:prstGeom prst="roundRect">
            <a:avLst>
              <a:gd name="adj" fmla="val 4000"/>
            </a:avLst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E3F2FD"/>
                </a:solidFill>
              </a:rPr>
              <a:t>L4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2858" y="7093131"/>
            <a:ext cx="639525" cy="391885"/>
          </a:xfrm>
          <a:prstGeom prst="roundRect">
            <a:avLst>
              <a:gd name="adj" fmla="val 4000"/>
            </a:avLst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E3F2FD"/>
                </a:solidFill>
              </a:rPr>
              <a:t>L5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718984" y="7093131"/>
            <a:ext cx="639525" cy="391885"/>
          </a:xfrm>
          <a:prstGeom prst="roundRect">
            <a:avLst>
              <a:gd name="adj" fmla="val 4000"/>
            </a:avLst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E3F2FD"/>
                </a:solidFill>
              </a:rPr>
              <a:t>L6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1551365" y="642692"/>
            <a:ext cx="1330036" cy="2683476"/>
          </a:xfrm>
          <a:prstGeom prst="roundRect">
            <a:avLst>
              <a:gd name="adj" fmla="val 4000"/>
            </a:avLst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</a:rPr>
              <a:t>Discrete</a:t>
            </a:r>
          </a:p>
          <a:p>
            <a:pPr algn="ctr"/>
            <a:r>
              <a:rPr sz="950" b="1">
                <a:solidFill>
                  <a:srgbClr val="FFFFFF"/>
                </a:solidFill>
              </a:rPr>
              <a:t>Action Head</a:t>
            </a:r>
          </a:p>
          <a:p>
            <a:pPr algn="ctr"/>
            <a:r>
              <a:rPr sz="850" b="0">
                <a:solidFill>
                  <a:srgbClr val="FFFFFF"/>
                </a:solidFill>
              </a:rPr>
              <a:t>8-bin logits</a:t>
            </a:r>
          </a:p>
          <a:p>
            <a:pPr algn="ctr"/>
            <a:r>
              <a:rPr sz="800" b="0">
                <a:solidFill>
                  <a:srgbClr val="FFFFFF"/>
                </a:solidFill>
              </a:rPr>
              <a:t>×K=4 chunks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1551365" y="4864242"/>
            <a:ext cx="1330036" cy="2683476"/>
          </a:xfrm>
          <a:prstGeom prst="roundRect">
            <a:avLst>
              <a:gd name="adj" fmla="val 4000"/>
            </a:avLst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</a:rPr>
              <a:t>Regression</a:t>
            </a:r>
          </a:p>
          <a:p>
            <a:pPr algn="ctr"/>
            <a:r>
              <a:rPr sz="950" b="1">
                <a:solidFill>
                  <a:srgbClr val="FFFFFF"/>
                </a:solidFill>
              </a:rPr>
              <a:t>Head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[Δx, Δy]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908602" y="1332411"/>
            <a:ext cx="332509" cy="0"/>
          </a:xfrm>
          <a:prstGeom prst="line">
            <a:avLst/>
          </a:prstGeom>
          <a:ln w="25400">
            <a:solidFill>
              <a:srgbClr val="1565C0"/>
            </a:solidFill>
            <a:tailEnd type="none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677550" y="1332411"/>
            <a:ext cx="133004" cy="0"/>
          </a:xfrm>
          <a:prstGeom prst="line">
            <a:avLst/>
          </a:prstGeom>
          <a:ln w="22860">
            <a:solidFill>
              <a:srgbClr val="1565C0"/>
            </a:solidFill>
            <a:tailEnd type="none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908602" y="2547257"/>
            <a:ext cx="332509" cy="0"/>
          </a:xfrm>
          <a:prstGeom prst="line">
            <a:avLst/>
          </a:prstGeom>
          <a:ln w="25400">
            <a:solidFill>
              <a:srgbClr val="2E7D32"/>
            </a:solidFill>
            <a:tailEnd type="none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677550" y="2547257"/>
            <a:ext cx="133004" cy="0"/>
          </a:xfrm>
          <a:prstGeom prst="line">
            <a:avLst/>
          </a:prstGeom>
          <a:ln w="22860">
            <a:solidFill>
              <a:srgbClr val="2E7D32"/>
            </a:solidFill>
            <a:tailEnd type="none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908602" y="3762102"/>
            <a:ext cx="332509" cy="0"/>
          </a:xfrm>
          <a:prstGeom prst="line">
            <a:avLst/>
          </a:prstGeom>
          <a:ln w="25400">
            <a:solidFill>
              <a:srgbClr val="E65100"/>
            </a:solidFill>
            <a:tailEnd type="none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3677550" y="3762102"/>
            <a:ext cx="133004" cy="0"/>
          </a:xfrm>
          <a:prstGeom prst="line">
            <a:avLst/>
          </a:prstGeom>
          <a:ln w="22860">
            <a:solidFill>
              <a:srgbClr val="E65100"/>
            </a:solidFill>
            <a:tailEnd type="none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908602" y="4976948"/>
            <a:ext cx="332509" cy="0"/>
          </a:xfrm>
          <a:prstGeom prst="line">
            <a:avLst/>
          </a:prstGeom>
          <a:ln w="25400">
            <a:solidFill>
              <a:srgbClr val="880E4F"/>
            </a:solidFill>
            <a:tailEnd type="none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3677550" y="4976948"/>
            <a:ext cx="133004" cy="0"/>
          </a:xfrm>
          <a:prstGeom prst="line">
            <a:avLst/>
          </a:prstGeom>
          <a:ln w="22860">
            <a:solidFill>
              <a:srgbClr val="880E4F"/>
            </a:solidFill>
            <a:tailEnd type="none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908602" y="6191794"/>
            <a:ext cx="332509" cy="0"/>
          </a:xfrm>
          <a:prstGeom prst="line">
            <a:avLst/>
          </a:prstGeom>
          <a:ln w="25400">
            <a:solidFill>
              <a:srgbClr val="4527A0"/>
            </a:solidFill>
            <a:tailEnd type="none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3677550" y="6191794"/>
            <a:ext cx="133004" cy="0"/>
          </a:xfrm>
          <a:prstGeom prst="line">
            <a:avLst/>
          </a:prstGeom>
          <a:ln w="22860">
            <a:solidFill>
              <a:srgbClr val="4527A0"/>
            </a:solidFill>
            <a:tailEnd type="none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3863755" y="3762102"/>
            <a:ext cx="266007" cy="0"/>
          </a:xfrm>
          <a:prstGeom prst="line">
            <a:avLst/>
          </a:prstGeom>
          <a:ln w="27940">
            <a:solidFill>
              <a:srgbClr val="78909C"/>
            </a:solidFill>
            <a:tailEnd type="none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055842" y="3762102"/>
            <a:ext cx="232757" cy="0"/>
          </a:xfrm>
          <a:prstGeom prst="line">
            <a:avLst/>
          </a:prstGeom>
          <a:ln w="35560">
            <a:solidFill>
              <a:srgbClr val="F9A825"/>
            </a:solidFill>
            <a:tailEnd type="none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405061" y="4095205"/>
            <a:ext cx="146304" cy="0"/>
          </a:xfrm>
          <a:prstGeom prst="line">
            <a:avLst/>
          </a:prstGeom>
          <a:ln w="31750">
            <a:solidFill>
              <a:srgbClr val="F9A825"/>
            </a:solidFill>
            <a:tailEnd type="none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2881402" y="1984430"/>
            <a:ext cx="266007" cy="0"/>
          </a:xfrm>
          <a:prstGeom prst="line">
            <a:avLst/>
          </a:prstGeom>
          <a:ln w="25400">
            <a:solidFill>
              <a:srgbClr val="FFCCBC"/>
            </a:solidFill>
            <a:tailEnd type="none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2881402" y="6205980"/>
            <a:ext cx="266007" cy="0"/>
          </a:xfrm>
          <a:prstGeom prst="line">
            <a:avLst/>
          </a:prstGeom>
          <a:ln w="25400">
            <a:solidFill>
              <a:srgbClr val="C8E6C9"/>
            </a:solidFill>
            <a:tailEnd type="none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13147409" y="642692"/>
            <a:ext cx="1363287" cy="2683476"/>
          </a:xfrm>
          <a:prstGeom prst="roundRect">
            <a:avLst>
              <a:gd name="adj" fmla="val 4000"/>
            </a:avLst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1">
                <a:solidFill>
                  <a:srgbClr val="FFFFFF"/>
                </a:solidFill>
              </a:rPr>
              <a:t>Discrete Action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8-bin × K=4</a:t>
            </a:r>
          </a:p>
          <a:p>
            <a:pPr algn="ctr"/>
            <a:r>
              <a:rPr sz="750" b="0">
                <a:solidFill>
                  <a:srgbClr val="FFFFFF"/>
                </a:solidFill>
              </a:rPr>
              <a:t>(π₀ style)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3147409" y="4864242"/>
            <a:ext cx="1363287" cy="2683476"/>
          </a:xfrm>
          <a:prstGeom prst="roundRect">
            <a:avLst>
              <a:gd name="adj" fmla="val 4000"/>
            </a:avLst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1">
                <a:solidFill>
                  <a:srgbClr val="FFFFFF"/>
                </a:solidFill>
              </a:rPr>
              <a:t>Continuous</a:t>
            </a:r>
          </a:p>
          <a:p>
            <a:pPr algn="ctr"/>
            <a:r>
              <a:rPr sz="950" b="0">
                <a:solidFill>
                  <a:srgbClr val="FFFFFF"/>
                </a:solidFill>
              </a:rPr>
              <a:t>[Δx, Δy]</a:t>
            </a:r>
          </a:p>
          <a:p>
            <a:pPr algn="ctr"/>
            <a:r>
              <a:rPr sz="800" b="0">
                <a:solidFill>
                  <a:srgbClr val="FFFFFF"/>
                </a:solidFill>
              </a:rPr>
              <a:t>action_dim=2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752" y="7939604"/>
            <a:ext cx="14430894" cy="2508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546E7A"/>
                </a:solidFill>
              </a:rPr>
              <a:t>5-stream closed-loop robot policy  ·  6-layer Bidirectional LLaMA Fusion Transformer  ·  K=4 action chunking  ·  λ_align=0.10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