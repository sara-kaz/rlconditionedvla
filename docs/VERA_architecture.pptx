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36576"/>
            <a:ext cx="14228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C1C1C"/>
                </a:solidFill>
              </a:rPr>
              <a:t>VERA  —  Vision · Experience · Reasoning ·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402336"/>
            <a:ext cx="14228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</a:rPr>
              <a:t>5-stream closed-loop robot policy   ·   6-layer Bidirectional LLaMA Fusion Transformer   ·   K = 4 action chunking   ·   λ_align = 0.10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6940296"/>
            <a:ext cx="1920239" cy="914400"/>
          </a:xfrm>
          <a:prstGeom prst="roundRect">
            <a:avLst>
              <a:gd name="adj" fmla="val 4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 RGB Frames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224 × 224 ×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7712" y="6940296"/>
            <a:ext cx="1920239" cy="914400"/>
          </a:xfrm>
          <a:prstGeom prst="roundRect">
            <a:avLst>
              <a:gd name="adj" fmla="val 4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Task Instruction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"push block left"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5" y="6940296"/>
            <a:ext cx="1920239" cy="914400"/>
          </a:xfrm>
          <a:prstGeom prst="roundRect">
            <a:avLst>
              <a:gd name="adj" fmla="val 4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Prior Action  a_{t−1}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discrete bin [0–7]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6940296"/>
            <a:ext cx="1920239" cy="914400"/>
          </a:xfrm>
          <a:prstGeom prst="roundRect">
            <a:avLst>
              <a:gd name="adj" fmla="val 4000"/>
            </a:avLst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r_{t−1}  ·  Δd_{t−1}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reward + state delta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67344" y="6940296"/>
            <a:ext cx="1920239" cy="914400"/>
          </a:xfrm>
          <a:prstGeom prst="roundRect">
            <a:avLst>
              <a:gd name="adj" fmla="val 4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History Window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H = 4  (action, reward) pairs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399" y="6995159"/>
            <a:ext cx="502920" cy="237744"/>
          </a:xfrm>
          <a:prstGeom prst="roundRect">
            <a:avLst>
              <a:gd name="adj" fmla="val 4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NEW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161287" y="6757416"/>
            <a:ext cx="0" cy="182880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227832" y="6757416"/>
            <a:ext cx="0" cy="182880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294375" y="6757416"/>
            <a:ext cx="0" cy="182880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360919" y="6757416"/>
            <a:ext cx="0" cy="182880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427463" y="6757416"/>
            <a:ext cx="0" cy="182880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01168" y="5769864"/>
            <a:ext cx="1920239" cy="987552"/>
          </a:xfrm>
          <a:prstGeom prst="roundRect">
            <a:avLst>
              <a:gd name="adj" fmla="val 4000"/>
            </a:avLst>
          </a:prstGeom>
          <a:solidFill>
            <a:srgbClr val="1565C0"/>
          </a:solidFill>
          <a:ln w="381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CLIP ViT-B/32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✓  fine-tuned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lr = 3e-6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→ 197 patch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67712" y="5769864"/>
            <a:ext cx="1920239" cy="987552"/>
          </a:xfrm>
          <a:prstGeom prst="roundRect">
            <a:avLst>
              <a:gd name="adj" fmla="val 4000"/>
            </a:avLst>
          </a:prstGeom>
          <a:solidFill>
            <a:srgbClr val="37474F"/>
          </a:solidFill>
          <a:ln w="38100">
            <a:solidFill>
              <a:srgbClr val="80DEE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CLIP Text Encoder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❄  FROZEN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→ 1 token  (d=512)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5" y="5769864"/>
            <a:ext cx="1920239" cy="987552"/>
          </a:xfrm>
          <a:prstGeom prst="roundRect">
            <a:avLst>
              <a:gd name="adj" fmla="val 4000"/>
            </a:avLst>
          </a:prstGeom>
          <a:solidFill>
            <a:srgbClr val="37474F"/>
          </a:solidFill>
          <a:ln w="38100">
            <a:solidFill>
              <a:srgbClr val="80DEE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CLIP Text Encoder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❄  FROZEN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→ 1 token  (d=512)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799" y="5769864"/>
            <a:ext cx="1920239" cy="987552"/>
          </a:xfrm>
          <a:prstGeom prst="roundRect">
            <a:avLst>
              <a:gd name="adj" fmla="val 4000"/>
            </a:avLst>
          </a:prstGeom>
          <a:solidFill>
            <a:srgbClr val="37474F"/>
          </a:solidFill>
          <a:ln w="38100">
            <a:solidFill>
              <a:srgbClr val="80DEE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CLIP Text Encoder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❄  FROZEN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→ 1 token  (d=512)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67344" y="5769864"/>
            <a:ext cx="914399" cy="987552"/>
          </a:xfrm>
          <a:prstGeom prst="roundRect">
            <a:avLst>
              <a:gd name="adj" fmla="val 4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History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Encoder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gate(a,r)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73184" y="5769864"/>
            <a:ext cx="914399" cy="987552"/>
          </a:xfrm>
          <a:prstGeom prst="roundRect">
            <a:avLst>
              <a:gd name="adj" fmla="val 4000"/>
            </a:avLst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2L Causal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LLaMA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Sub-TF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161287" y="5586983"/>
            <a:ext cx="0" cy="182881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227832" y="5586983"/>
            <a:ext cx="0" cy="182881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294375" y="5586983"/>
            <a:ext cx="0" cy="182881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360919" y="5586983"/>
            <a:ext cx="0" cy="182881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427463" y="5586983"/>
            <a:ext cx="0" cy="182881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01168" y="5239512"/>
            <a:ext cx="10186415" cy="347472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228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004D40"/>
                </a:solidFill>
              </a:rPr>
              <a:t>Independent  RMSNorm + Linear  →  d = 256   +   ViLT modality-type embedding per stream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161287" y="5056631"/>
            <a:ext cx="0" cy="182881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227832" y="5056631"/>
            <a:ext cx="0" cy="182881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294375" y="5056631"/>
            <a:ext cx="0" cy="182881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360919" y="5056631"/>
            <a:ext cx="0" cy="182881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427463" y="5056631"/>
            <a:ext cx="0" cy="182881"/>
          </a:xfrm>
          <a:prstGeom prst="line">
            <a:avLst/>
          </a:prstGeom>
          <a:ln w="22860">
            <a:solidFill>
              <a:srgbClr val="5555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01168" y="2724911"/>
            <a:ext cx="10186415" cy="2331720"/>
          </a:xfrm>
          <a:prstGeom prst="roundRect">
            <a:avLst>
              <a:gd name="adj" fmla="val 4000"/>
            </a:avLst>
          </a:prstGeom>
          <a:solidFill>
            <a:srgbClr val="1A237E"/>
          </a:solidFill>
          <a:ln w="31750">
            <a:solidFill>
              <a:srgbClr val="79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10896" y="2816351"/>
            <a:ext cx="9966959" cy="438912"/>
          </a:xfrm>
          <a:prstGeom prst="roundRect">
            <a:avLst>
              <a:gd name="adj" fmla="val 4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LLaMA Fusion Transformer   ·   6 Layers   ·   8 Heads   ·   d_model = 256   ·   d_ff = 1024   ·   RMSNorm · RoPE · SwiGLU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" y="3310127"/>
            <a:ext cx="9966959" cy="329184"/>
          </a:xfrm>
          <a:prstGeom prst="roundRect">
            <a:avLst>
              <a:gd name="adj" fmla="val 4000"/>
            </a:avLst>
          </a:prstGeom>
          <a:solidFill>
            <a:srgbClr val="1A237E"/>
          </a:solidFill>
          <a:ln w="317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FFD54F"/>
                </a:solidFill>
              </a:rPr>
              <a:t>◈   BIDIRECTIONAL  —  Full Attention  —  No Causal Mask   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" y="3712463"/>
            <a:ext cx="9966959" cy="347472"/>
          </a:xfrm>
          <a:prstGeom prst="roundRect">
            <a:avLst>
              <a:gd name="adj" fmla="val 4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5CAE9"/>
                </a:solidFill>
              </a:rPr>
              <a:t>[ t_ins  |  t_act  |  t_emb  |  V_patches  |  h₁ … h₄  |  CLS 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663440"/>
            <a:ext cx="1642872" cy="301752"/>
          </a:xfrm>
          <a:prstGeom prst="roundRect">
            <a:avLst>
              <a:gd name="adj" fmla="val 4000"/>
            </a:avLst>
          </a:prstGeom>
          <a:solidFill>
            <a:srgbClr val="1565C0"/>
          </a:solidFill>
          <a:ln w="1016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Layer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26920" y="4325112"/>
            <a:ext cx="1642872" cy="301752"/>
          </a:xfrm>
          <a:prstGeom prst="roundRect">
            <a:avLst>
              <a:gd name="adj" fmla="val 4000"/>
            </a:avLst>
          </a:prstGeom>
          <a:solidFill>
            <a:srgbClr val="1976D2"/>
          </a:solidFill>
          <a:ln w="1016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Layer 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88080" y="3986783"/>
            <a:ext cx="1642872" cy="301752"/>
          </a:xfrm>
          <a:prstGeom prst="roundRect">
            <a:avLst>
              <a:gd name="adj" fmla="val 4000"/>
            </a:avLst>
          </a:prstGeom>
          <a:solidFill>
            <a:srgbClr val="1565C0"/>
          </a:solidFill>
          <a:ln w="1016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Layer 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49240" y="3648455"/>
            <a:ext cx="1642872" cy="301752"/>
          </a:xfrm>
          <a:prstGeom prst="roundRect">
            <a:avLst>
              <a:gd name="adj" fmla="val 4000"/>
            </a:avLst>
          </a:prstGeom>
          <a:solidFill>
            <a:srgbClr val="1976D2"/>
          </a:solidFill>
          <a:ln w="1016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Layer 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10400" y="3310127"/>
            <a:ext cx="1642872" cy="301752"/>
          </a:xfrm>
          <a:prstGeom prst="roundRect">
            <a:avLst>
              <a:gd name="adj" fmla="val 4000"/>
            </a:avLst>
          </a:prstGeom>
          <a:solidFill>
            <a:srgbClr val="1565C0"/>
          </a:solidFill>
          <a:ln w="1016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Layer 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71560" y="2971799"/>
            <a:ext cx="1642872" cy="301752"/>
          </a:xfrm>
          <a:prstGeom prst="roundRect">
            <a:avLst>
              <a:gd name="adj" fmla="val 4000"/>
            </a:avLst>
          </a:prstGeom>
          <a:solidFill>
            <a:srgbClr val="1976D2"/>
          </a:solidFill>
          <a:ln w="1016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Layer 6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5294375" y="2542032"/>
            <a:ext cx="0" cy="182879"/>
          </a:xfrm>
          <a:prstGeom prst="line">
            <a:avLst/>
          </a:prstGeom>
          <a:ln w="40640">
            <a:solidFill>
              <a:srgbClr val="FFD54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201168" y="2066543"/>
            <a:ext cx="10186415" cy="475488"/>
          </a:xfrm>
          <a:prstGeom prst="roundRect">
            <a:avLst>
              <a:gd name="adj" fmla="val 4000"/>
            </a:avLst>
          </a:prstGeom>
          <a:solidFill>
            <a:srgbClr val="0D47A1"/>
          </a:solidFill>
          <a:ln w="3556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CLS  →  Policy Head Input</a:t>
            </a:r>
          </a:p>
        </p:txBody>
      </p:sp>
      <p:cxnSp>
        <p:nvCxnSpPr>
          <p:cNvPr id="45" name="Connector 44"/>
          <p:cNvCxnSpPr/>
          <p:nvPr/>
        </p:nvCxnSpPr>
        <p:spPr>
          <a:xfrm flipH="1" flipV="1">
            <a:off x="2702052" y="1883664"/>
            <a:ext cx="2592323" cy="182879"/>
          </a:xfrm>
          <a:prstGeom prst="line">
            <a:avLst/>
          </a:prstGeom>
          <a:ln w="31750">
            <a:solidFill>
              <a:srgbClr val="BBDEF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294375" y="1883664"/>
            <a:ext cx="2592325" cy="182879"/>
          </a:xfrm>
          <a:prstGeom prst="line">
            <a:avLst/>
          </a:prstGeom>
          <a:ln w="31750">
            <a:solidFill>
              <a:srgbClr val="BBDEF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201168" y="859536"/>
            <a:ext cx="5001768" cy="1024128"/>
          </a:xfrm>
          <a:prstGeom prst="roundRect">
            <a:avLst>
              <a:gd name="adj" fmla="val 4000"/>
            </a:avLst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Discrete Action Head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Expand-Compress → FC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8-bin logits  ×  K = 4 chunks  (π₀ style)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85816" y="859536"/>
            <a:ext cx="5001768" cy="1024128"/>
          </a:xfrm>
          <a:prstGeom prst="roundRect">
            <a:avLst>
              <a:gd name="adj" fmla="val 4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Continuous Regression Head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RMSNorm  +  Tanh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Continuous action  [Δx,  Δy]   (action_dim = 2)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88752" y="859536"/>
            <a:ext cx="3840480" cy="6995160"/>
          </a:xfrm>
          <a:prstGeom prst="roundRect">
            <a:avLst>
              <a:gd name="adj" fmla="val 4000"/>
            </a:avLst>
          </a:prstGeom>
          <a:solidFill>
            <a:srgbClr val="F57F1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InfoNCE Alignment Loss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(training only)</a:t>
            </a:r>
          </a:p>
          <a:p>
            <a:pPr algn="ctr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050" b="0">
                <a:solidFill>
                  <a:srgbClr val="FFFFFF"/>
                </a:solidFill>
              </a:rPr>
              <a:t>InfoNCE( t_emb, t_act ‖ t_ins )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reward-weighted · exp(5 · r̃)</a:t>
            </a:r>
          </a:p>
          <a:p>
            <a:pPr algn="ctr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λ_align = 0.10</a:t>
            </a:r>
          </a:p>
          <a:p>
            <a:pPr algn="ctr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Aligns consequence +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action tokens toward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the task instruction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embedding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88752" y="7946136"/>
            <a:ext cx="3840480" cy="-237743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524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⟲  Closed-loop feedback:</a:t>
            </a:r>
          </a:p>
          <a:p>
            <a:pPr algn="ctr"/>
            <a:r>
              <a:rPr sz="900" b="0">
                <a:solidFill>
                  <a:srgbClr val="1C1C1C"/>
                </a:solidFill>
              </a:rPr>
              <a:t>action + consequence re-injected</a:t>
            </a:r>
          </a:p>
          <a:p>
            <a:pPr algn="ctr"/>
            <a:r>
              <a:rPr sz="900" b="0">
                <a:solidFill>
                  <a:srgbClr val="1C1C1C"/>
                </a:solidFill>
              </a:rPr>
              <a:t>as stream inputs at  t+1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1168" y="8083296"/>
            <a:ext cx="14228064" cy="384048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524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46888" y="8138160"/>
            <a:ext cx="292608" cy="237744"/>
          </a:xfrm>
          <a:prstGeom prst="roundRect">
            <a:avLst>
              <a:gd name="adj" fmla="val 4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" y="8138160"/>
            <a:ext cx="783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C1C1C"/>
                </a:solidFill>
              </a:rPr>
              <a:t>Vision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32560" y="8138160"/>
            <a:ext cx="292608" cy="237744"/>
          </a:xfrm>
          <a:prstGeom prst="roundRect">
            <a:avLst>
              <a:gd name="adj" fmla="val 4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70887" y="8138160"/>
            <a:ext cx="783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C1C1C"/>
                </a:solidFill>
              </a:rPr>
              <a:t>Instruction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18232" y="8138160"/>
            <a:ext cx="292608" cy="237744"/>
          </a:xfrm>
          <a:prstGeom prst="roundRect">
            <a:avLst>
              <a:gd name="adj" fmla="val 4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56560" y="8138160"/>
            <a:ext cx="783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C1C1C"/>
                </a:solidFill>
              </a:rPr>
              <a:t>Action Narration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03903" y="8138160"/>
            <a:ext cx="292608" cy="237744"/>
          </a:xfrm>
          <a:prstGeom prst="roundRect">
            <a:avLst>
              <a:gd name="adj" fmla="val 4000"/>
            </a:avLst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42231" y="8138160"/>
            <a:ext cx="783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C1C1C"/>
                </a:solidFill>
              </a:rPr>
              <a:t>Embodied Consequence [NEW]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89575" y="8138160"/>
            <a:ext cx="292608" cy="237744"/>
          </a:xfrm>
          <a:prstGeom prst="roundRect">
            <a:avLst>
              <a:gd name="adj" fmla="val 4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27904" y="8138160"/>
            <a:ext cx="783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C1C1C"/>
                </a:solidFill>
              </a:rPr>
              <a:t>History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75248" y="8138160"/>
            <a:ext cx="292608" cy="237744"/>
          </a:xfrm>
          <a:prstGeom prst="roundRect">
            <a:avLst>
              <a:gd name="adj" fmla="val 4000"/>
            </a:avLst>
          </a:prstGeom>
          <a:solidFill>
            <a:srgbClr val="1565C0"/>
          </a:solidFill>
          <a:ln w="254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13576" y="8138160"/>
            <a:ext cx="783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C1C1C"/>
                </a:solidFill>
              </a:rPr>
              <a:t>CLIP ViT ✓ trainable (lr=3e-6)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60919" y="8138160"/>
            <a:ext cx="292608" cy="237744"/>
          </a:xfrm>
          <a:prstGeom prst="roundRect">
            <a:avLst>
              <a:gd name="adj" fmla="val 4000"/>
            </a:avLst>
          </a:prstGeom>
          <a:solidFill>
            <a:srgbClr val="37474F"/>
          </a:solidFill>
          <a:ln w="25400">
            <a:solidFill>
              <a:srgbClr val="80DEE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99248" y="8138160"/>
            <a:ext cx="783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C1C1C"/>
                </a:solidFill>
              </a:rPr>
              <a:t>CLIP Text ❄ FROZEN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546592" y="8138160"/>
            <a:ext cx="292608" cy="237744"/>
          </a:xfrm>
          <a:prstGeom prst="roundRect">
            <a:avLst>
              <a:gd name="adj" fmla="val 4000"/>
            </a:avLst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84920" y="8138160"/>
            <a:ext cx="783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C1C1C"/>
                </a:solidFill>
              </a:rPr>
              <a:t>2L Causal Sub-TF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732264" y="8138160"/>
            <a:ext cx="292608" cy="237744"/>
          </a:xfrm>
          <a:prstGeom prst="roundRect">
            <a:avLst>
              <a:gd name="adj" fmla="val 4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70592" y="8138160"/>
            <a:ext cx="783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C1C1C"/>
                </a:solidFill>
              </a:rPr>
              <a:t>6L Bidir Fusion TF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917936" y="8138160"/>
            <a:ext cx="292608" cy="237744"/>
          </a:xfrm>
          <a:prstGeom prst="roundRect">
            <a:avLst>
              <a:gd name="adj" fmla="val 4000"/>
            </a:avLst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256264" y="8138160"/>
            <a:ext cx="783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C1C1C"/>
                </a:solidFill>
              </a:rPr>
              <a:t>Discrete Head (8-bin×K=4)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2103608" y="8138160"/>
            <a:ext cx="292608" cy="237744"/>
          </a:xfrm>
          <a:prstGeom prst="roundRect">
            <a:avLst>
              <a:gd name="adj" fmla="val 4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441936" y="8138160"/>
            <a:ext cx="783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C1C1C"/>
                </a:solidFill>
              </a:rPr>
              <a:t>Regression Head [Δx,Δy]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3289280" y="8138160"/>
            <a:ext cx="292608" cy="237744"/>
          </a:xfrm>
          <a:prstGeom prst="roundRect">
            <a:avLst>
              <a:gd name="adj" fmla="val 4000"/>
            </a:avLst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627608" y="8138160"/>
            <a:ext cx="783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C1C1C"/>
                </a:solidFill>
              </a:rPr>
              <a:t>InfoNCE Loss (λ=0.10)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